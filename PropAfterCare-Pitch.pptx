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5B9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320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765810" y="395478"/>
            <a:ext cx="251460" cy="25146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6978" y="646938"/>
            <a:ext cx="201168" cy="201168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6978" y="646938"/>
            <a:ext cx="20116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320040"/>
            <a:ext cx="292608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8191C"/>
                </a:solidFill>
                <a:latin typeface="Inter"/>
              </a:rPr>
              <a:t>Prop</a:t>
            </a:r>
            <a:r>
              <a:rPr sz="2100" b="1">
                <a:solidFill>
                  <a:srgbClr val="5B9CF6"/>
                </a:solidFill>
                <a:latin typeface="Inter"/>
              </a:rPr>
              <a:t>After</a:t>
            </a:r>
            <a:r>
              <a:rPr sz="2100" b="1">
                <a:solidFill>
                  <a:srgbClr val="18191C"/>
                </a:solidFill>
                <a:latin typeface="Inter"/>
              </a:rPr>
              <a:t>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0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Inter"/>
              </a:rPr>
              <a:t>Pilotmarkt Paderborn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8191C"/>
                </a:solidFill>
                <a:latin typeface="Inter"/>
              </a:rPr>
              <a:t>Aus jedem Notartermin werden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B82F6"/>
                </a:solidFill>
                <a:latin typeface="Inter"/>
              </a:rPr>
              <a:t>vier Google-Bewertungen.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Post-Closing Betreuung für Immobilienmakler – als automatische
Reputations- und Empfehlungsmaschine.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Finn Wenzel · finn.luca.wenzel@gmx.de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Der Notartisch ist nicht das Ende.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Es ist der Anfang des Chaos – und der Moment, in dem du als Makler aus dem Leben deines Kunden verschwindest.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5394960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Inter"/>
              </a:rPr>
              <a:t>FÜR DEN KÄUFER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191C"/>
                </a:solidFill>
                <a:latin typeface="Inter"/>
              </a:rPr>
              <a:t>Die stressigste Phase beginnt jetzt.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Auflassungsvormerkung &amp; Fälligkeitsmitteilung verstehen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Kaufpreis korrekt überweisen – Frist nicht verpassen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Grunderwerbsteuer, Versicherungs-Übergang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Versorger, Ummeldung, Handwerker koordinieren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Behörden-Bürokratie ohne klaren Leitfaden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77440"/>
            <a:ext cx="5394960" cy="3474720"/>
          </a:xfrm>
          <a:prstGeom prst="roundRect">
            <a:avLst>
              <a:gd name="adj" fmla="val 4000"/>
            </a:avLst>
          </a:prstGeom>
          <a:solidFill>
            <a:srgbClr val="E0EF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FÜR DEN MAKLER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191C"/>
                </a:solidFill>
                <a:latin typeface="Inter"/>
              </a:rPr>
              <a:t>Du verschwindest – und verlierst.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4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Keine systematischen Google-Bewertungen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Keine warmen Empfehlungen aus Bestandskunden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Folgegeschäft (nächster Kauf, Verkauf, Erbe) geht verloren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Käufer-Anrufe mit Fragen, die du nicht beantworten kannst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4155"/>
                </a:solidFill>
                <a:latin typeface="Inter"/>
              </a:rPr>
              <a:t>• Reputation entsteht zufällig statt strukturiert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Branchenrealität: nur 5–8 % zufriedener Käufer hinterlassen eine Bewertung – wenn niemand sie strukturiert anstößt.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DIE STRATEGISCHE NEURAHMUNG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Es ist keine Service-App.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B82F6"/>
                </a:solidFill>
                <a:latin typeface="Inter"/>
              </a:rPr>
              <a:t>Es ist eine Reputations-Maschine.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91840"/>
            <a:ext cx="941832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61188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5B9CF6"/>
                </a:solidFill>
                <a:latin typeface="Inter"/>
              </a:rPr>
              <a:t>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88620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8191C"/>
                </a:solidFill>
                <a:latin typeface="Inter"/>
              </a:rPr>
              <a:t>Der Käufer erlebt Fürsorge.
Der Makler erntet Bewertungen und Folgegeschäft.
Das ist das eigentliche Verkaufsargument.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MARKTCHANCE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Ein riesiger, fragmentierter, unterversorgter Markt.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Adressierbare Zielgruppe in Deutschland – mit klarem Pilot-Beachhead in Paderborn.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B82F6"/>
                </a:solidFill>
                <a:latin typeface="Inter"/>
              </a:rPr>
              <a:t>~25.000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91C"/>
                </a:solidFill>
                <a:latin typeface="Inter"/>
              </a:rPr>
              <a:t>aktive Immobilienmakler in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BITKom 2024 / IVD-Branchenreport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68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8346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B82F6"/>
                </a:solidFill>
                <a:latin typeface="Inter"/>
              </a:rPr>
              <a:t>~10.000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57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91C"/>
                </a:solidFill>
                <a:latin typeface="Inter"/>
              </a:rPr>
              <a:t>digital-affine Einzel-
&amp; kleine Büros (Zielgruppe)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976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Geschätzt 40 % des Gesamtmarkts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468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8346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B82F6"/>
                </a:solidFill>
                <a:latin typeface="Inter"/>
              </a:rPr>
              <a:t>~600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91C"/>
                </a:solidFill>
                <a:latin typeface="Inter"/>
              </a:rPr>
              <a:t>Makler allein im
Pilot-Korridor OWL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2976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Paderborn, Bielefeld, Detmold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Bei nur 50 zahlenden Maklern und 100 €/Monat sind wir bei 60.000 € ARR – allein im Paderborn-Pilot finanzierungsfähig.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Vier Kernfunktionen. Eine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Vom Notartermin bis zur Google-Bewertung – vollautomatisch.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8191C"/>
                </a:solidFill>
                <a:latin typeface="Inter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60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191C"/>
                </a:solidFill>
                <a:latin typeface="Inter"/>
              </a:rPr>
              <a:t>Meilenstein-Tracker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1752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12 Aufgaben in 4 Phasen – von Auflassungs-vormerkung bis Nebenkostenabrechnung. Klar erklärt, mit kritischen Fristen.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8191C"/>
                </a:solidFill>
                <a:latin typeface="Inter"/>
              </a:rPr>
              <a:t>🏛️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60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191C"/>
                </a:solidFill>
                <a:latin typeface="Inter"/>
              </a:rPr>
              <a:t>Formular-Hub Paderborn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01752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17 lokal kuratierte Formulare. Vorausgefüllt, mit Direktlinks zu Behörden und Versorgern. Quelle und Stand transparent.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0519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34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8191C"/>
                </a:solidFill>
                <a:latin typeface="Inter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3483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191C"/>
                </a:solidFill>
                <a:latin typeface="Inter"/>
              </a:rPr>
              <a:t>KI-Assistent mit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92039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Antwortet auf Käuferfragen in deren Sprache. Keine konkrete Rechts-/Steuerberatung – Eskalation an geprüfte Experten.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60519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8191C"/>
                </a:solidFill>
                <a:latin typeface="Inter"/>
              </a:rP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43483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191C"/>
                </a:solidFill>
                <a:latin typeface="Inter"/>
              </a:rPr>
              <a:t>Reputations-Cockpit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892039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Bewertungs-Trigger 7 Tage nach Einzug. Live-Metriken im Makler-Cockpit. 35–45 % erwartete Bewertungs-Conversion.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Tag 0 bis Tag 365.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Eine durchgehende Strecke – das System tut den Großteil.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1064240" cy="36576"/>
          </a:xfrm>
          <a:prstGeom prst="rect">
            <a:avLst/>
          </a:prstGeom>
          <a:solidFill>
            <a:srgbClr val="5B9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72184" y="292608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Tag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Notar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12140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CRM-Trigger
Welcome-Mail
Onboarding 2 Min</a:t>
            </a:r>
          </a:p>
        </p:txBody>
      </p:sp>
      <p:sp>
        <p:nvSpPr>
          <p:cNvPr id="16" name="Oval 15"/>
          <p:cNvSpPr/>
          <p:nvPr/>
        </p:nvSpPr>
        <p:spPr>
          <a:xfrm>
            <a:off x="3685032" y="292608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2560320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Wochen 1–4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4747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886200"/>
            <a:ext cx="212140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Auflassung
Fälligkeit
Kaufpreis
Grunderwerb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292608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2560320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Wochen 4–12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34747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3886200"/>
            <a:ext cx="212140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Versicherung
Handwerker
Mietvertrag</a:t>
            </a:r>
          </a:p>
        </p:txBody>
      </p:sp>
      <p:sp>
        <p:nvSpPr>
          <p:cNvPr id="24" name="Oval 23"/>
          <p:cNvSpPr/>
          <p:nvPr/>
        </p:nvSpPr>
        <p:spPr>
          <a:xfrm>
            <a:off x="8110728" y="292608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4" y="2560320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Wochen 12+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4" y="34747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3886200"/>
            <a:ext cx="212140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Übergabe
Ummeldung
Versorger</a:t>
            </a:r>
          </a:p>
        </p:txBody>
      </p:sp>
      <p:sp>
        <p:nvSpPr>
          <p:cNvPr id="28" name="Oval 27"/>
          <p:cNvSpPr/>
          <p:nvPr/>
        </p:nvSpPr>
        <p:spPr>
          <a:xfrm>
            <a:off x="10323576" y="2926080"/>
            <a:ext cx="365760" cy="36576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2560320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Tag 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34747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886200"/>
            <a:ext cx="212140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+ 7 Tage Wartezeit
+ ≥ 5 Milestones
+ KI-Chat genutzt
→ Bewertungs-Mail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DIE GEHEIME SAUCE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Der Reputations-Trigger.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Timing ist alles. Drei Bedingungen müssen erfüllt sein, bevor wir fragen.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E0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3B82F6"/>
                </a:solidFill>
                <a:latin typeface="Inter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Tage nach Einzug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Einzugschaos abklingen lassen – kein 'kalte Frage'-Effekt.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6888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E0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78892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3B82F6"/>
                </a:solidFill>
                <a:latin typeface="Inter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Meilensteine erledigt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0690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Käufer hat die Hilfe wirklich erlebt, nicht nur den Login gesehen.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46888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E0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78892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3B82F6"/>
                </a:solidFill>
                <a:latin typeface="Inter"/>
              </a:rPr>
              <a:t>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033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KI-Chat genutzt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690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Inter"/>
              </a:rPr>
              <a:t>System wurde aktiv eingesetzt – Beziehung ist real.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Beispielrechnung: 25 Deals/Jahr × 40 % Conversion =  10 neue Google-Bewertungen jährlich – ohne einen einzigen Anruf.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WETTBEWERB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Niemand bedient den Post-Closing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CRMs hören am Notartisch auf. Wir fangen dort 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926080" cy="457200"/>
          </a:xfrm>
          <a:prstGeom prst="rect">
            <a:avLst/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Anbieter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468880"/>
            <a:ext cx="2011680" cy="457200"/>
          </a:xfrm>
          <a:prstGeom prst="rect">
            <a:avLst/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CRM bis Notar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468880"/>
            <a:ext cx="2011680" cy="457200"/>
          </a:xfrm>
          <a:prstGeom prst="rect">
            <a:avLst/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Post-Closing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468880"/>
            <a:ext cx="2011680" cy="457200"/>
          </a:xfrm>
          <a:prstGeom prst="rect">
            <a:avLst/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468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Lokal kuratiert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468880"/>
            <a:ext cx="2103120" cy="457200"/>
          </a:xfrm>
          <a:prstGeom prst="rect">
            <a:avLst/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Reputations-Mechanik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2926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91C"/>
                </a:solidFill>
                <a:latin typeface="Inter"/>
              </a:rPr>
              <a:t>Propstack / OnOffice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926080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926080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2926080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292608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383280"/>
            <a:ext cx="29260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91C"/>
                </a:solidFill>
                <a:latin typeface="Inter"/>
              </a:rPr>
              <a:t>Immowelt / ImmoScout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383280"/>
            <a:ext cx="2011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3383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3383280"/>
            <a:ext cx="2011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3383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0" y="3383280"/>
            <a:ext cx="2011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3383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3383280"/>
            <a:ext cx="21031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840480"/>
            <a:ext cx="2926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840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91C"/>
                </a:solidFill>
                <a:latin typeface="Inter"/>
              </a:rPr>
              <a:t>PriceHubble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840480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840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840480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3840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0" y="3840480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3840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384048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3840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297680"/>
            <a:ext cx="29260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297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91C"/>
                </a:solidFill>
                <a:latin typeface="Inter"/>
              </a:rPr>
              <a:t>Generic Checklisten-Apps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4297680"/>
            <a:ext cx="2011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4297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297680"/>
            <a:ext cx="2011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0" y="4297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91C"/>
                </a:solidFill>
                <a:latin typeface="Inter"/>
              </a:rPr>
              <a:t>teils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0" y="4297680"/>
            <a:ext cx="2011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4297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760" y="4297680"/>
            <a:ext cx="21031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4297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754880"/>
            <a:ext cx="2926080" cy="457200"/>
          </a:xfrm>
          <a:prstGeom prst="rect">
            <a:avLst/>
          </a:prstGeom>
          <a:solidFill>
            <a:srgbClr val="E0EFFE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754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Inter"/>
              </a:rPr>
              <a:t>PropAfterCare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4754880"/>
            <a:ext cx="2011680" cy="457200"/>
          </a:xfrm>
          <a:prstGeom prst="rect">
            <a:avLst/>
          </a:prstGeom>
          <a:solidFill>
            <a:srgbClr val="E0EFFE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0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Inter"/>
              </a:rPr>
              <a:t>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4754880"/>
            <a:ext cx="2011680" cy="457200"/>
          </a:xfrm>
          <a:prstGeom prst="rect">
            <a:avLst/>
          </a:prstGeom>
          <a:solidFill>
            <a:srgbClr val="E0EFFE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0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0" y="4754880"/>
            <a:ext cx="2011680" cy="457200"/>
          </a:xfrm>
          <a:prstGeom prst="rect">
            <a:avLst/>
          </a:prstGeom>
          <a:solidFill>
            <a:srgbClr val="E0EFFE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960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760" y="4754880"/>
            <a:ext cx="2103120" cy="457200"/>
          </a:xfrm>
          <a:prstGeom prst="rect">
            <a:avLst/>
          </a:prstGeom>
          <a:solidFill>
            <a:srgbClr val="E0EFFE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4754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GESCHÄFTSMODELL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Drei Einnahme-Säulen.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SaaS-Abo zahlt die Lichter. Provisionen liefern die Skalierung.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61188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Inter"/>
              </a:rPr>
              <a:t>SaaS-Abo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Inter"/>
              </a:rPr>
              <a:t>49 – 299 €/Monat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Starter / Pro / Agency-Tier. 20 % Rabatt bei Jahreszahlung. Wiederkehrende, planbare Umsätze.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46888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468880"/>
            <a:ext cx="36118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8803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Inter"/>
              </a:rPr>
              <a:t>Dienstleister-Provisionen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918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</a:rPr>
              <a:t>5 – 15 %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2336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Steuerberater, Handwerker, Hausverwaltungen. Provision auf vermittelte Aufträge. Skaliert mit dem Käufer-Volumen.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46888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468880"/>
            <a:ext cx="361188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28803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Inter"/>
              </a:rPr>
              <a:t>Premium-Inhalte (Phase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2918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Inter"/>
              </a:rPr>
              <a:t>Einmalig 29 – 49 €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02336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Steuer-Guides für Kapitalanleger. Renovierungs-Planung mit lokalen Preisindizes.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Faires Preismodell – fair für Pilot-Makler.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Erste 6 Monate kostenlos für die Pilotpartner in Paderborn.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8191C"/>
                </a:solidFill>
                <a:latin typeface="Inter"/>
              </a:rPr>
              <a:t>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3B82F6"/>
                </a:solidFill>
                <a:latin typeface="Inter"/>
              </a:rPr>
              <a:t>49 €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519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Inter"/>
              </a:rPr>
              <a:t>/ Monat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617720"/>
            <a:ext cx="2514600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bis 12 Deals / Jahr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Einzelmakler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56032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E0EF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46420" y="239572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6420" y="23957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BELIEBT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718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8191C"/>
                </a:solidFill>
                <a:latin typeface="Inter"/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5204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3B82F6"/>
                </a:solidFill>
                <a:latin typeface="Inter"/>
              </a:rPr>
              <a:t>129 €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519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Inter"/>
              </a:rPr>
              <a:t>/ Monat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617720"/>
            <a:ext cx="2514600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7548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bis 40 Deals / Jahr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749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Kleines Büro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56032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9718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8191C"/>
                </a:solidFill>
                <a:latin typeface="Inter"/>
              </a:rP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5204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3B82F6"/>
                </a:solidFill>
                <a:latin typeface="Inter"/>
              </a:rPr>
              <a:t>299 €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519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Inter"/>
              </a:rPr>
              <a:t>/ Monat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4617720"/>
            <a:ext cx="2514600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7548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8191C"/>
                </a:solidFill>
                <a:latin typeface="Inter"/>
              </a:rPr>
              <a:t>unbegrenzt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0749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5–15 Mitarbeiter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🎁  Pilot-Angebot Paderborn: 6 Monate kostenlos für die ersten 5 Maklerpartner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PILOT-STRATEGIE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Paderborn first. Dann OWL. Dann Großstadt.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Tiefe vor Breite. Eine Kommune perfekt machen, dann replizieren.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Inter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Monate 0–6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191C"/>
                </a:solidFill>
                <a:latin typeface="Inter"/>
              </a:rPr>
              <a:t>Paderborn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3–5 Pilot-Makler aus persönlichem Netzwerk · 17 lokal kuratierte Formulare · validiertes Reputations-Modul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947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69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Monate 7–12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94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191C"/>
                </a:solidFill>
                <a:latin typeface="Inter"/>
              </a:rPr>
              <a:t>OWL-Region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8404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Bielefeld + Detmold + Höxter · ähnliche Behörden-/Versorger-Struktur · Skaleneffekt durch Form-Wiederverwendung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2120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74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Inter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49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Monate 13–24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0749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191C"/>
                </a:solidFill>
                <a:latin typeface="Inter"/>
              </a:rPr>
              <a:t>Großstadt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Frankfurt oder Köln · Mehrsprachigkeit (TR / AR / RU) wird relevant · Franchise-Makler-Tier (Engel &amp; Völkers, von Poll)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18 Monate, vier Quartale, eine klare Linie.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Quartalsziele, an denen wir uns messen lassen.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36118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09728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MVP live · 3 Pilot-Makler Paderborn · Anwalt für AGB beauftragt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68880"/>
            <a:ext cx="36118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468880"/>
            <a:ext cx="109728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65176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Q4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0175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5 zahlende Makler · CRM-Integration (Zapier) · erste 50 Käufer im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468880"/>
            <a:ext cx="36118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468880"/>
            <a:ext cx="109728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5176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Q1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0175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10 Makler · OWL-Expansion startet · Mehrsprachigkeit TR aktiv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36118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109728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4340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Q2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091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20 Makler · 200+ Bewertungen generiert · erste Großstadt-Pilotgespräche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160520"/>
            <a:ext cx="36118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16052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34340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Q3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7091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30 Makler · Native CRM-Integrationen (Propstack, OnOffice)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160520"/>
            <a:ext cx="36118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16052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434340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Q4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7091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50 Makler · 150 k € ARR · Series-Seed-fähig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UNIT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Konservative Projektion Jahr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Pilotbasis 50 Makler. Realistische Annahmen. Klare Pfad-Eckpunkte.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577840" cy="3291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Inter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Inter"/>
              </a:rPr>
              <a:t>50 Makler × ⌀ 100 € MRR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017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91C"/>
                </a:solidFill>
                <a:latin typeface="Inter"/>
              </a:rPr>
              <a:t>5.000 € MRR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Inter"/>
              </a:rPr>
              <a:t>Ø 2 Dienstleister-Deals × 75 €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566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91C"/>
                </a:solidFill>
                <a:latin typeface="Inter"/>
              </a:rPr>
              <a:t>7.500 € MRR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77640"/>
            <a:ext cx="4846320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191C"/>
                </a:solidFill>
                <a:latin typeface="Inter"/>
              </a:rPr>
              <a:t>Gesamt 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114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3B82F6"/>
                </a:solidFill>
                <a:latin typeface="Inter"/>
              </a:rPr>
              <a:t>12.500 €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191C"/>
                </a:solidFill>
                <a:latin typeface="Inter"/>
              </a:rPr>
              <a:t>Gesamt ARR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663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3B82F6"/>
                </a:solidFill>
                <a:latin typeface="Inter"/>
              </a:rPr>
              <a:t>150.000 €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468880"/>
            <a:ext cx="54406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Inter"/>
              </a:rPr>
              <a:t>EFFIZIENZ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17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Inter"/>
              </a:rPr>
              <a:t>CAC (warm referral, Pilot)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01752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91C"/>
                </a:solidFill>
                <a:latin typeface="Inter"/>
              </a:rPr>
              <a:t>≈ 250 – 400 €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5661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Inter"/>
              </a:rPr>
              <a:t>LTV (Ø 24 Monate × 100 €)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56616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91C"/>
                </a:solidFill>
                <a:latin typeface="Inter"/>
              </a:rPr>
              <a:t>≈ 2.400 €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1148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Inter"/>
              </a:rPr>
              <a:t>LTV : CAC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11480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  <a:latin typeface="Inter"/>
              </a:rPr>
              <a:t>6× – 9×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Inter"/>
              </a:rPr>
              <a:t>Payback-Periode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6634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  <a:latin typeface="Inter"/>
              </a:rPr>
              <a:t>3 – 4 Monate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Annahme: SaaS-Conversion-Rate Pilot → Bezahlphase 80 %, Churn &lt; 5 %/Jahr, Provisionen wachsen mit Käufer-Volumen.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Founder mit Branchen-Kontext.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Operative Immobilien-Erfahrung trifft auf produkt- und technologiegetriebenes Denken.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110642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154680"/>
            <a:ext cx="1828800" cy="1828800"/>
          </a:xfrm>
          <a:prstGeom prst="ellipse">
            <a:avLst/>
          </a:prstGeom>
          <a:solidFill>
            <a:srgbClr val="E0EFF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1828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3B82F6"/>
                </a:solidFill>
                <a:latin typeface="Inter"/>
              </a:rPr>
              <a:t>FW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91C"/>
                </a:solidFill>
                <a:latin typeface="Inter"/>
              </a:rPr>
              <a:t>Finn Wenzel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11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82F6"/>
                </a:solidFill>
                <a:latin typeface="Inter"/>
              </a:rPr>
              <a:t>Founder · PropAfterCare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16052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Bringe Branchenverständnis aus dem Immobilien-Umfeld mit operativer
Produktarbeit zusammen. Aufgebaut aus dem persönlichen Netzwerk in
Paderborn – mit Maklern, die das Problem aus Käufer- und Verkäufer-
perspektive täglich erleben.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Verstärkungen in Engineering, Sales OWL und Steuer-/Rechtsberatung werden mit dem Pilot gesucht.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63640"/>
            <a:ext cx="320040" cy="3200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37210" y="6311646"/>
            <a:ext cx="160020" cy="1600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5226" y="6471666"/>
            <a:ext cx="128016" cy="12801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6471666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PropAfterCare · Pitch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910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Inter"/>
              </a:rPr>
              <a:t>DER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191C"/>
                </a:solidFill>
                <a:latin typeface="Inter"/>
              </a:rPr>
              <a:t>Was wir suchen – je nach Rolle.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Drei Wege, mit uns zu arbeiten.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361188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61188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👤  PILOT-MAKLER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91C"/>
                </a:solidFill>
                <a:latin typeface="Inter"/>
              </a:rPr>
              <a:t>Werde einer der ersten 5 Partner in Paderborn.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✓ 6 Monate kostenlos
✓ Direkter Draht zur Produktentwicklung
✓ Mitkurations-Belohnung ab Tag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468880"/>
            <a:ext cx="361188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468880"/>
            <a:ext cx="361188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4688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💼  INVESTOR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91C"/>
                </a:solidFill>
                <a:latin typeface="Inter"/>
              </a:rPr>
              <a:t>Pre-Seed / Friends &amp; Family für 18–24 Monate Runway.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02336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✓ Ticket-Größe 25 – 100 k €
✓ Validierungsfenster Paderborn ist klar messbar
✓ Skalierungs-Pfad OWL → Großstadt definiert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468880"/>
            <a:ext cx="361188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468880"/>
            <a:ext cx="361188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🤝  GESCHÄFTSPARTNER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91C"/>
                </a:solidFill>
                <a:latin typeface="Inter"/>
              </a:rPr>
              <a:t>CRMs, Steuerberater, Versorger, Hausverwaltungen.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2336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✓ Distribution / Integration / Provision
✓ Erst-Partnerschaften haben Vorteils-Konditionen
✓ Win-Win-Modell, kein Nullsummen-Spiel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777240" y="585216"/>
            <a:ext cx="274320" cy="27432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" y="859536"/>
            <a:ext cx="219456" cy="219456"/>
          </a:xfrm>
          <a:prstGeom prst="ellipse">
            <a:avLst/>
          </a:prstGeom>
          <a:solidFill>
            <a:srgbClr val="1819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859536"/>
            <a:ext cx="21945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50292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18191C"/>
                </a:solidFill>
                <a:latin typeface="Inter"/>
              </a:rPr>
              <a:t>Prop</a:t>
            </a:r>
            <a:r>
              <a:rPr sz="2300" b="1">
                <a:solidFill>
                  <a:srgbClr val="5B9CF6"/>
                </a:solidFill>
                <a:latin typeface="Inter"/>
              </a:rPr>
              <a:t>After</a:t>
            </a:r>
            <a:r>
              <a:rPr sz="2300" b="1">
                <a:solidFill>
                  <a:srgbClr val="18191C"/>
                </a:solidFill>
                <a:latin typeface="Inter"/>
              </a:rPr>
              <a:t>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"/>
            <a:ext cx="365760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Inter"/>
              </a:rPr>
              <a:t>Prop</a:t>
            </a:r>
            <a:r>
              <a:rPr sz="2000" b="1">
                <a:solidFill>
                  <a:srgbClr val="5B9CF6"/>
                </a:solidFill>
                <a:latin typeface="Inter"/>
              </a:rPr>
              <a:t>After</a:t>
            </a:r>
            <a:r>
              <a:rPr sz="2000" b="1">
                <a:solidFill>
                  <a:srgbClr val="FFFFFF"/>
                </a:solidFill>
                <a:latin typeface="Inter"/>
              </a:rPr>
              <a:t>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Inter"/>
              </a:rPr>
              <a:t>Werden wir Partner?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B9CF6"/>
                </a:solidFill>
                <a:latin typeface="Inter"/>
              </a:rPr>
              <a:t>Lass uns über deinen Pilot-Slot, dein Investment
oder deine Integration reden.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9200"/>
            <a:ext cx="6858000" cy="1280160"/>
          </a:xfrm>
          <a:prstGeom prst="roundRect">
            <a:avLst>
              <a:gd name="adj" fmla="val 6000"/>
            </a:avLst>
          </a:prstGeom>
          <a:solidFill>
            <a:srgbClr val="2A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9CF6"/>
                </a:solidFill>
                <a:latin typeface="Inter"/>
              </a:rPr>
              <a:t>KONTAKT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3212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Finn Wenzel · 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97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finn.luca.wenzel@gmx.de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